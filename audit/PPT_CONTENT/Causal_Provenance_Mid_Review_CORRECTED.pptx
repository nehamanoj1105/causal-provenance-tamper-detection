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egoe UI Bold" charset="1" panose="020B0802040204020203"/>
      <p:regular r:id="rId18"/>
    </p:embeddedFont>
    <p:embeddedFont>
      <p:font typeface="Times New Roman" charset="1" panose="02020603050405020304"/>
      <p:regular r:id="rId19"/>
    </p:embeddedFont>
    <p:embeddedFont>
      <p:font typeface="Arial Bold" charset="1" panose="020B0704020202020204"/>
      <p:regular r:id="rId20"/>
    </p:embeddedFont>
    <p:embeddedFont>
      <p:font typeface="Georgia" charset="1" panose="02040502050405020303"/>
      <p:regular r:id="rId21"/>
    </p:embeddedFont>
    <p:embeddedFont>
      <p:font typeface="Aptos Bold" charset="1" panose="020B0004020202020204"/>
      <p:regular r:id="rId22"/>
    </p:embeddedFont>
    <p:embeddedFont>
      <p:font typeface="Aptos" charset="1" panose="020B0004020202020204"/>
      <p:regular r:id="rId23"/>
    </p:embeddedFont>
    <p:embeddedFont>
      <p:font typeface="Georgia Bold" charset="1" panose="02040802050405020203"/>
      <p:regular r:id="rId24"/>
    </p:embeddedFont>
    <p:embeddedFont>
      <p:font typeface="Georgia Bold Italics" charset="1" panose="02040802050405090203"/>
      <p:regular r:id="rId25"/>
    </p:embeddedFont>
    <p:embeddedFont>
      <p:font typeface="Aptos Italics" charset="1" panose="020B0004020202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2E5E8"/>
        </a:solidFill>
      </p:bgPr>
    </p:bg>
    <p:spTree>
      <p:nvGrpSpPr>
        <p:cNvPr id="1" name=""/>
        <p:cNvGrpSpPr/>
        <p:nvPr/>
      </p:nvGrpSpPr>
      <p:grpSpPr>
        <a:xfrm>
          <a:off x="0" y="0"/>
          <a:ext cx="0" cy="0"/>
          <a:chOff x="0" y="0"/>
          <a:chExt cx="0" cy="0"/>
        </a:xfrm>
      </p:grpSpPr>
      <p:sp>
        <p:nvSpPr>
          <p:cNvPr name="AutoShape 2" id="2"/>
          <p:cNvSpPr/>
          <p:nvPr/>
        </p:nvSpPr>
        <p:spPr>
          <a:xfrm rot="10798020">
            <a:off x="844382" y="9424759"/>
            <a:ext cx="16599246" cy="0"/>
          </a:xfrm>
          <a:prstGeom prst="line">
            <a:avLst/>
          </a:prstGeom>
          <a:ln cap="rnd" w="9525">
            <a:solidFill>
              <a:srgbClr val="000000"/>
            </a:solidFill>
            <a:prstDash val="solid"/>
            <a:headEnd type="none" len="sm" w="sm"/>
            <a:tailEnd type="none" len="sm" w="sm"/>
          </a:ln>
        </p:spPr>
      </p:sp>
      <p:sp>
        <p:nvSpPr>
          <p:cNvPr name="AutoShape 3" id="3"/>
          <p:cNvSpPr/>
          <p:nvPr/>
        </p:nvSpPr>
        <p:spPr>
          <a:xfrm rot="10798020">
            <a:off x="861460" y="2820238"/>
            <a:ext cx="16599246" cy="0"/>
          </a:xfrm>
          <a:prstGeom prst="line">
            <a:avLst/>
          </a:prstGeom>
          <a:ln cap="rnd" w="9525">
            <a:solidFill>
              <a:srgbClr val="000000"/>
            </a:solidFill>
            <a:prstDash val="solid"/>
            <a:headEnd type="none" len="sm" w="sm"/>
            <a:tailEnd type="none" len="sm" w="sm"/>
          </a:ln>
        </p:spPr>
      </p:sp>
      <p:sp>
        <p:nvSpPr>
          <p:cNvPr name="AutoShape 4" id="4"/>
          <p:cNvSpPr/>
          <p:nvPr/>
        </p:nvSpPr>
        <p:spPr>
          <a:xfrm rot="10798020">
            <a:off x="861460" y="852488"/>
            <a:ext cx="16599246" cy="0"/>
          </a:xfrm>
          <a:prstGeom prst="line">
            <a:avLst/>
          </a:prstGeom>
          <a:ln cap="rnd" w="9525">
            <a:solidFill>
              <a:srgbClr val="000000"/>
            </a:solidFill>
            <a:prstDash val="solid"/>
            <a:headEnd type="none" len="sm" w="sm"/>
            <a:tailEnd type="none" len="sm" w="sm"/>
          </a:ln>
        </p:spPr>
      </p:sp>
      <p:grpSp>
        <p:nvGrpSpPr>
          <p:cNvPr name="Group 5" id="5"/>
          <p:cNvGrpSpPr/>
          <p:nvPr/>
        </p:nvGrpSpPr>
        <p:grpSpPr>
          <a:xfrm rot="0">
            <a:off x="0" y="0"/>
            <a:ext cx="18288000" cy="10287000"/>
            <a:chOff x="0" y="0"/>
            <a:chExt cx="24384000" cy="13716000"/>
          </a:xfrm>
        </p:grpSpPr>
        <p:sp>
          <p:nvSpPr>
            <p:cNvPr name="Freeform 6" id="6"/>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B8114F"/>
            </a:solidFill>
          </p:spPr>
        </p:sp>
      </p:grpSp>
      <p:grpSp>
        <p:nvGrpSpPr>
          <p:cNvPr name="Group 7" id="7"/>
          <p:cNvGrpSpPr/>
          <p:nvPr/>
        </p:nvGrpSpPr>
        <p:grpSpPr>
          <a:xfrm rot="0">
            <a:off x="1501731" y="3864702"/>
            <a:ext cx="5164760" cy="1657350"/>
            <a:chOff x="0" y="0"/>
            <a:chExt cx="6886346" cy="2209800"/>
          </a:xfrm>
        </p:grpSpPr>
        <p:sp>
          <p:nvSpPr>
            <p:cNvPr name="Freeform 8" id="8" descr="A picture containing drawing  Description automatically generated"/>
            <p:cNvSpPr/>
            <p:nvPr/>
          </p:nvSpPr>
          <p:spPr>
            <a:xfrm flipH="false" flipV="false" rot="0">
              <a:off x="0" y="0"/>
              <a:ext cx="6886321" cy="2209800"/>
            </a:xfrm>
            <a:custGeom>
              <a:avLst/>
              <a:gdLst/>
              <a:ahLst/>
              <a:cxnLst/>
              <a:rect r="r" b="b" t="t" l="l"/>
              <a:pathLst>
                <a:path h="2209800" w="6886321">
                  <a:moveTo>
                    <a:pt x="0" y="0"/>
                  </a:moveTo>
                  <a:lnTo>
                    <a:pt x="6886321" y="0"/>
                  </a:lnTo>
                  <a:lnTo>
                    <a:pt x="6886321" y="2209800"/>
                  </a:lnTo>
                  <a:lnTo>
                    <a:pt x="0" y="2209800"/>
                  </a:lnTo>
                  <a:lnTo>
                    <a:pt x="0" y="0"/>
                  </a:lnTo>
                  <a:close/>
                </a:path>
              </a:pathLst>
            </a:custGeom>
            <a:blipFill>
              <a:blip r:embed="rId2"/>
              <a:stretch>
                <a:fillRect l="-42" t="0" r="-43" b="0"/>
              </a:stretch>
            </a:blipFill>
          </p:spPr>
        </p:sp>
      </p:grpSp>
      <p:sp>
        <p:nvSpPr>
          <p:cNvPr name="AutoShape 9" id="9"/>
          <p:cNvSpPr/>
          <p:nvPr/>
        </p:nvSpPr>
        <p:spPr>
          <a:xfrm>
            <a:off x="6671253" y="3214788"/>
            <a:ext cx="9504" cy="4614529"/>
          </a:xfrm>
          <a:prstGeom prst="line">
            <a:avLst/>
          </a:prstGeom>
          <a:ln cap="rnd" w="9525">
            <a:solidFill>
              <a:srgbClr val="FFC000"/>
            </a:solidFill>
            <a:prstDash val="solid"/>
            <a:headEnd type="none" len="sm" w="sm"/>
            <a:tailEnd type="none" len="sm" w="sm"/>
          </a:ln>
        </p:spPr>
      </p:sp>
      <p:sp>
        <p:nvSpPr>
          <p:cNvPr name="TextBox 10" id="10"/>
          <p:cNvSpPr txBox="true"/>
          <p:nvPr/>
        </p:nvSpPr>
        <p:spPr>
          <a:xfrm rot="0">
            <a:off x="7377646" y="3776571"/>
            <a:ext cx="8994191" cy="2383396"/>
          </a:xfrm>
          <a:prstGeom prst="rect">
            <a:avLst/>
          </a:prstGeom>
        </p:spPr>
        <p:txBody>
          <a:bodyPr anchor="t" rtlCol="false" tIns="0" lIns="0" bIns="0" rIns="0">
            <a:spAutoFit/>
          </a:bodyPr>
          <a:lstStyle/>
          <a:p>
            <a:pPr algn="ctr">
              <a:lnSpc>
                <a:spcPts val="4571"/>
              </a:lnSpc>
            </a:pPr>
            <a:r>
              <a:rPr lang="en-US" sz="3809" b="true">
                <a:solidFill>
                  <a:srgbClr val="FFFFFF"/>
                </a:solidFill>
                <a:latin typeface="Segoe UI Bold"/>
                <a:ea typeface="Segoe UI Bold"/>
                <a:cs typeface="Segoe UI Bold"/>
                <a:sym typeface="Segoe UI Bold"/>
              </a:rPr>
              <a:t>Causal Consistency as a Defense: Detecting Provenance Graph Poisoning</a:t>
            </a:r>
          </a:p>
          <a:p>
            <a:pPr algn="ctr">
              <a:lnSpc>
                <a:spcPts val="4571"/>
              </a:lnSpc>
            </a:pPr>
          </a:p>
          <a:p>
            <a:pPr algn="l">
              <a:lnSpc>
                <a:spcPts val="2612"/>
              </a:lnSpc>
            </a:pPr>
            <a:r>
              <a:rPr lang="en-US" sz="2176" b="true">
                <a:solidFill>
                  <a:srgbClr val="FFFFFF"/>
                </a:solidFill>
                <a:latin typeface="Segoe UI Bold"/>
                <a:ea typeface="Segoe UI Bold"/>
                <a:cs typeface="Segoe UI Bold"/>
                <a:sym typeface="Segoe UI Bold"/>
              </a:rPr>
              <a:t>Github: https://github.com/nehamanoj1105/causal-provenance-tamper-detection</a:t>
            </a:r>
          </a:p>
        </p:txBody>
      </p:sp>
      <p:sp>
        <p:nvSpPr>
          <p:cNvPr name="TextBox 11" id="11"/>
          <p:cNvSpPr txBox="true"/>
          <p:nvPr/>
        </p:nvSpPr>
        <p:spPr>
          <a:xfrm rot="0">
            <a:off x="7377646" y="7400692"/>
            <a:ext cx="8994191" cy="428625"/>
          </a:xfrm>
          <a:prstGeom prst="rect">
            <a:avLst/>
          </a:prstGeom>
        </p:spPr>
        <p:txBody>
          <a:bodyPr anchor="t" rtlCol="false" tIns="0" lIns="0" bIns="0" rIns="0">
            <a:spAutoFit/>
          </a:bodyPr>
          <a:lstStyle/>
          <a:p>
            <a:pPr algn="ctr">
              <a:lnSpc>
                <a:spcPts val="3240"/>
              </a:lnSpc>
            </a:pPr>
            <a:r>
              <a:rPr lang="en-US" sz="2700">
                <a:solidFill>
                  <a:srgbClr val="FFFFFF"/>
                </a:solidFill>
                <a:latin typeface="Times New Roman"/>
                <a:ea typeface="Times New Roman"/>
                <a:cs typeface="Times New Roman"/>
                <a:sym typeface="Times New Roman"/>
              </a:rPr>
              <a:t>Neha Manoj - AM.SC.U4CYS23030</a:t>
            </a:r>
          </a:p>
        </p:txBody>
      </p:sp>
      <p:sp>
        <p:nvSpPr>
          <p:cNvPr name="TextBox 12" id="12"/>
          <p:cNvSpPr txBox="true"/>
          <p:nvPr/>
        </p:nvSpPr>
        <p:spPr>
          <a:xfrm rot="0">
            <a:off x="7377646" y="6566017"/>
            <a:ext cx="8994191" cy="428625"/>
          </a:xfrm>
          <a:prstGeom prst="rect">
            <a:avLst/>
          </a:prstGeom>
        </p:spPr>
        <p:txBody>
          <a:bodyPr anchor="t" rtlCol="false" tIns="0" lIns="0" bIns="0" rIns="0">
            <a:spAutoFit/>
          </a:bodyPr>
          <a:lstStyle/>
          <a:p>
            <a:pPr algn="ctr">
              <a:lnSpc>
                <a:spcPts val="3240"/>
              </a:lnSpc>
            </a:pPr>
            <a:r>
              <a:rPr lang="en-US" sz="2700">
                <a:solidFill>
                  <a:srgbClr val="FFFFFF"/>
                </a:solidFill>
                <a:latin typeface="Times New Roman"/>
                <a:ea typeface="Times New Roman"/>
                <a:cs typeface="Times New Roman"/>
                <a:sym typeface="Times New Roman"/>
              </a:rPr>
              <a:t>Guided by: Devi Rajeev</a:t>
            </a:r>
          </a:p>
        </p:txBody>
      </p:sp>
      <p:sp>
        <p:nvSpPr>
          <p:cNvPr name="TextBox 13" id="13"/>
          <p:cNvSpPr txBox="true"/>
          <p:nvPr/>
        </p:nvSpPr>
        <p:spPr>
          <a:xfrm rot="0">
            <a:off x="7377646" y="2260673"/>
            <a:ext cx="8994191" cy="804777"/>
          </a:xfrm>
          <a:prstGeom prst="rect">
            <a:avLst/>
          </a:prstGeom>
        </p:spPr>
        <p:txBody>
          <a:bodyPr anchor="t" rtlCol="false" tIns="0" lIns="0" bIns="0" rIns="0">
            <a:spAutoFit/>
          </a:bodyPr>
          <a:lstStyle/>
          <a:p>
            <a:pPr algn="ctr">
              <a:lnSpc>
                <a:spcPts val="5759"/>
              </a:lnSpc>
            </a:pPr>
            <a:r>
              <a:rPr lang="en-US" sz="4800" b="true">
                <a:solidFill>
                  <a:srgbClr val="FFFFFF"/>
                </a:solidFill>
                <a:latin typeface="Arial Bold"/>
                <a:ea typeface="Arial Bold"/>
                <a:cs typeface="Arial Bold"/>
                <a:sym typeface="Arial Bold"/>
              </a:rPr>
              <a:t>S7 PROJECT MID REVIEW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529963"/>
            <a:ext cx="16631183" cy="7492327"/>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Georgia"/>
                <a:ea typeface="Georgia"/>
                <a:cs typeface="Georgia"/>
                <a:sym typeface="Georgia"/>
              </a:rPr>
              <a:t>Introduction</a:t>
            </a:r>
          </a:p>
          <a:p>
            <a:pPr algn="l" marL="760095" indent="-380048" lvl="1">
              <a:lnSpc>
                <a:spcPts val="4536"/>
              </a:lnSpc>
              <a:buFont typeface="Arial"/>
              <a:buChar char="•"/>
            </a:pPr>
            <a:r>
              <a:rPr lang="en-US" sz="4200">
                <a:solidFill>
                  <a:srgbClr val="000000"/>
                </a:solidFill>
                <a:latin typeface="Georgia"/>
                <a:ea typeface="Georgia"/>
                <a:cs typeface="Georgia"/>
                <a:sym typeface="Georgia"/>
              </a:rPr>
              <a:t>Problem Definition</a:t>
            </a:r>
          </a:p>
          <a:p>
            <a:pPr algn="l" marL="760095" indent="-380048" lvl="1">
              <a:lnSpc>
                <a:spcPts val="4536"/>
              </a:lnSpc>
              <a:buFont typeface="Arial"/>
              <a:buChar char="•"/>
            </a:pPr>
            <a:r>
              <a:rPr lang="en-US" sz="4200">
                <a:solidFill>
                  <a:srgbClr val="000000"/>
                </a:solidFill>
                <a:latin typeface="Georgia"/>
                <a:ea typeface="Georgia"/>
                <a:cs typeface="Georgia"/>
                <a:sym typeface="Georgia"/>
              </a:rPr>
              <a:t>Literature Review Summary </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Research Gap</a:t>
            </a:r>
          </a:p>
          <a:p>
            <a:pPr algn="l" marL="760095" indent="-380048" lvl="1">
              <a:lnSpc>
                <a:spcPts val="4536"/>
              </a:lnSpc>
              <a:buFont typeface="Arial"/>
              <a:buChar char="•"/>
            </a:pPr>
            <a:r>
              <a:rPr lang="en-US" sz="4200">
                <a:solidFill>
                  <a:srgbClr val="000000"/>
                </a:solidFill>
                <a:latin typeface="Georgia"/>
                <a:ea typeface="Georgia"/>
                <a:cs typeface="Georgia"/>
                <a:sym typeface="Georgia"/>
              </a:rPr>
              <a:t>Methodology</a:t>
            </a:r>
          </a:p>
          <a:p>
            <a:pPr algn="l" marL="760095" indent="-380048" lvl="1">
              <a:lnSpc>
                <a:spcPts val="4536"/>
              </a:lnSpc>
              <a:buFont typeface="Arial"/>
              <a:buChar char="•"/>
            </a:pPr>
            <a:r>
              <a:rPr lang="en-US" sz="4200">
                <a:solidFill>
                  <a:srgbClr val="000000"/>
                </a:solidFill>
                <a:latin typeface="Georgia"/>
                <a:ea typeface="Georgia"/>
                <a:cs typeface="Georgia"/>
                <a:sym typeface="Georgia"/>
              </a:rPr>
              <a:t>Design/ Architecture</a:t>
            </a:r>
          </a:p>
          <a:p>
            <a:pPr algn="l" marL="760095" indent="-380048" lvl="1">
              <a:lnSpc>
                <a:spcPts val="4536"/>
              </a:lnSpc>
              <a:buFont typeface="Arial"/>
              <a:buChar char="•"/>
            </a:pPr>
            <a:r>
              <a:rPr lang="en-US" sz="4200">
                <a:solidFill>
                  <a:srgbClr val="000000"/>
                </a:solidFill>
                <a:latin typeface="Georgia"/>
                <a:ea typeface="Georgia"/>
                <a:cs typeface="Georgia"/>
                <a:sym typeface="Georgia"/>
              </a:rPr>
              <a:t>Algorithms (if any)</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Result Analysis.</a:t>
            </a:r>
          </a:p>
          <a:p>
            <a:pPr algn="l" marL="760095" indent="-380048" lvl="1">
              <a:lnSpc>
                <a:spcPts val="4536"/>
              </a:lnSpc>
              <a:buFont typeface="Arial"/>
              <a:buChar char="•"/>
            </a:pPr>
            <a:r>
              <a:rPr lang="en-US" sz="4200">
                <a:solidFill>
                  <a:srgbClr val="000000"/>
                </a:solidFill>
                <a:latin typeface="Georgia"/>
                <a:ea typeface="Georgia"/>
                <a:cs typeface="Georgia"/>
                <a:sym typeface="Georgia"/>
              </a:rPr>
              <a:t>Project Time Line (Plan)</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Reference</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Outline</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2</a:t>
              </a:r>
            </a:p>
          </p:txBody>
        </p:sp>
      </p:grpSp>
      <p:sp>
        <p:nvSpPr>
          <p:cNvPr name="TextBox 13" id="13"/>
          <p:cNvSpPr txBox="true"/>
          <p:nvPr/>
        </p:nvSpPr>
        <p:spPr>
          <a:xfrm rot="0">
            <a:off x="4555865" y="9778717"/>
            <a:ext cx="9888969" cy="393306"/>
          </a:xfrm>
          <a:prstGeom prst="rect">
            <a:avLst/>
          </a:prstGeom>
        </p:spPr>
        <p:txBody>
          <a:bodyPr anchor="t" rtlCol="false" tIns="0" lIns="0" bIns="0" rIns="0">
            <a:spAutoFit/>
          </a:bodyPr>
          <a:lstStyle/>
          <a:p>
            <a:pPr algn="l">
              <a:lnSpc>
                <a:spcPts val="2700"/>
              </a:lnSpc>
            </a:pPr>
            <a:r>
              <a:rPr lang="en-US" sz="2250">
                <a:solidFill>
                  <a:srgbClr val="D9D9D9"/>
                </a:solidFill>
                <a:latin typeface="Aptos"/>
                <a:ea typeface="Aptos"/>
                <a:cs typeface="Aptos"/>
                <a:sym typeface="Aptos"/>
              </a:rPr>
              <a:t>Causal Provenance Graph Tamper Detection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694450"/>
            <a:ext cx="16913428" cy="7413498"/>
          </a:xfrm>
          <a:prstGeom prst="rect">
            <a:avLst/>
          </a:prstGeom>
        </p:spPr>
        <p:txBody>
          <a:bodyPr anchor="t" rtlCol="false" tIns="0" lIns="0" bIns="0" rIns="0">
            <a:spAutoFit/>
          </a:bodyPr>
          <a:lstStyle/>
          <a:p>
            <a:pPr algn="l" marL="651510" indent="-325755" lvl="1">
              <a:lnSpc>
                <a:spcPts val="4896"/>
              </a:lnSpc>
              <a:buFont typeface="Arial"/>
              <a:buChar char="•"/>
            </a:pPr>
            <a:r>
              <a:rPr lang="en-US" sz="3600">
                <a:solidFill>
                  <a:srgbClr val="000000"/>
                </a:solidFill>
                <a:latin typeface="Georgia"/>
                <a:ea typeface="Georgia"/>
                <a:cs typeface="Georgia"/>
                <a:sym typeface="Georgia"/>
              </a:rPr>
              <a:t>Provenance graphs record a system's audit trail nodes are processes, files, and network sockets; edges are the reads, writes, spawns, and connects between them. It's the primary evidence used to reconstruct what happened during an attack.</a:t>
            </a:r>
          </a:p>
          <a:p>
            <a:pPr algn="l" marL="651510" indent="-325755" lvl="1">
              <a:lnSpc>
                <a:spcPts val="4896"/>
              </a:lnSpc>
              <a:buFont typeface="Arial"/>
              <a:buChar char="•"/>
            </a:pPr>
            <a:r>
              <a:rPr lang="en-US" sz="3600">
                <a:solidFill>
                  <a:srgbClr val="000000"/>
                </a:solidFill>
                <a:latin typeface="Georgia"/>
                <a:ea typeface="Georgia"/>
                <a:cs typeface="Georgia"/>
                <a:sym typeface="Georgia"/>
              </a:rPr>
              <a:t>Provenance-based intrusion detection (PIDS) assumes this graph is trustworthy  but once an attacker has privileged access, the graph itself can be edited: events deleted, forged, reordered, or reattached to fake dependencies.</a:t>
            </a:r>
          </a:p>
          <a:p>
            <a:pPr algn="l" marL="651510" indent="-325755" lvl="1">
              <a:lnSpc>
                <a:spcPts val="4896"/>
              </a:lnSpc>
              <a:buFont typeface="Arial"/>
              <a:buChar char="•"/>
            </a:pPr>
            <a:r>
              <a:rPr lang="en-US" sz="3600">
                <a:solidFill>
                  <a:srgbClr val="000000"/>
                </a:solidFill>
                <a:latin typeface="Georgia"/>
                <a:ea typeface="Georgia"/>
                <a:cs typeface="Georgia"/>
                <a:sym typeface="Georgia"/>
              </a:rPr>
              <a:t>This project treats that as a separate problem from intrusion detection: verify the integrity of the evidence itself, before any downstream detector consumes it.</a:t>
            </a:r>
          </a:p>
          <a:p>
            <a:pPr algn="l" marL="651510" indent="-325755" lvl="1">
              <a:lnSpc>
                <a:spcPts val="4896"/>
              </a:lnSpc>
              <a:buFont typeface="Arial"/>
              <a:buChar char="•"/>
            </a:pPr>
            <a:r>
              <a:rPr lang="en-US" sz="3600">
                <a:solidFill>
                  <a:srgbClr val="000000"/>
                </a:solidFill>
                <a:latin typeface="Georgia"/>
                <a:ea typeface="Georgia"/>
                <a:cs typeface="Georgia"/>
                <a:sym typeface="Georgia"/>
              </a:rPr>
              <a:t>Approach: 15 deterministic causal/semantic OS invariants (a rule engine), benchmarked head-to-head against a GraphSAGE GNN baseline on synthetic graphs and real DARPA Transparent Computing (TC E3) audit data.</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INTRODUCTION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0175"/>
            <a:ext cx="16722623" cy="7478125"/>
          </a:xfrm>
          <a:prstGeom prst="rect">
            <a:avLst/>
          </a:prstGeom>
        </p:spPr>
        <p:txBody>
          <a:bodyPr anchor="t" rtlCol="false" tIns="0" lIns="0" bIns="0" rIns="0">
            <a:spAutoFit/>
          </a:bodyPr>
          <a:lstStyle/>
          <a:p>
            <a:pPr algn="l">
              <a:lnSpc>
                <a:spcPts val="4209"/>
              </a:lnSpc>
            </a:pPr>
            <a:r>
              <a:rPr lang="en-US" sz="3897" b="true">
                <a:solidFill>
                  <a:srgbClr val="000000"/>
                </a:solidFill>
                <a:latin typeface="Georgia Bold"/>
                <a:ea typeface="Georgia Bold"/>
                <a:cs typeface="Georgia Bold"/>
                <a:sym typeface="Georgia Bold"/>
              </a:rPr>
              <a:t>Motivation</a:t>
            </a:r>
          </a:p>
          <a:p>
            <a:pPr algn="l" marL="1241040" indent="-413680" lvl="2">
              <a:lnSpc>
                <a:spcPts val="3608"/>
              </a:lnSpc>
              <a:buFont typeface="Arial"/>
              <a:buChar char="⚬"/>
            </a:pPr>
            <a:r>
              <a:rPr lang="en-US" sz="3340">
                <a:solidFill>
                  <a:srgbClr val="000000"/>
                </a:solidFill>
                <a:latin typeface="Georgia"/>
                <a:ea typeface="Georgia"/>
                <a:cs typeface="Georgia"/>
                <a:sym typeface="Georgia"/>
              </a:rPr>
              <a:t>Forensic reconstruction, root-cause analysis, and every ML-based provenance detector all assume the provenance graph is ground truth an assumption never tested against an adversary with write access to the log.</a:t>
            </a:r>
          </a:p>
          <a:p>
            <a:pPr algn="l">
              <a:lnSpc>
                <a:spcPts val="4209"/>
              </a:lnSpc>
            </a:pPr>
            <a:r>
              <a:rPr lang="en-US" b="true" sz="3897">
                <a:solidFill>
                  <a:srgbClr val="000000"/>
                </a:solidFill>
                <a:latin typeface="Georgia Bold"/>
                <a:ea typeface="Georgia Bold"/>
                <a:cs typeface="Georgia Bold"/>
                <a:sym typeface="Georgia Bold"/>
              </a:rPr>
              <a:t>Problem Statement</a:t>
            </a:r>
          </a:p>
          <a:p>
            <a:pPr algn="l" marL="1241040" indent="-413680" lvl="2">
              <a:lnSpc>
                <a:spcPts val="3608"/>
              </a:lnSpc>
              <a:buFont typeface="Arial"/>
              <a:buChar char="⚬"/>
            </a:pPr>
            <a:r>
              <a:rPr lang="en-US" sz="3340">
                <a:solidFill>
                  <a:srgbClr val="000000"/>
                </a:solidFill>
                <a:latin typeface="Georgia"/>
                <a:ea typeface="Georgia"/>
                <a:cs typeface="Georgia"/>
                <a:sym typeface="Georgia"/>
              </a:rPr>
              <a:t>Given a provenance graph that may have been tampered with (edge deletion, insertion, reordering, or dependency forgery possibly hidden further with mimicry noise), can we flag exactly which edges are inconsistent with valid OS causal/semantic behavior?</a:t>
            </a:r>
          </a:p>
          <a:p>
            <a:pPr algn="l">
              <a:lnSpc>
                <a:spcPts val="4209"/>
              </a:lnSpc>
            </a:pPr>
            <a:r>
              <a:rPr lang="en-US" b="true" sz="3897">
                <a:solidFill>
                  <a:srgbClr val="000000"/>
                </a:solidFill>
                <a:latin typeface="Georgia Bold"/>
                <a:ea typeface="Georgia Bold"/>
                <a:cs typeface="Georgia Bold"/>
                <a:sym typeface="Georgia Bold"/>
              </a:rPr>
              <a:t>Objectives</a:t>
            </a:r>
          </a:p>
          <a:p>
            <a:pPr algn="l" marL="1241040" indent="-413680" lvl="2">
              <a:lnSpc>
                <a:spcPts val="3608"/>
              </a:lnSpc>
              <a:buFont typeface="Arial"/>
              <a:buChar char="⚬"/>
            </a:pPr>
            <a:r>
              <a:rPr lang="en-US" sz="3340">
                <a:solidFill>
                  <a:srgbClr val="000000"/>
                </a:solidFill>
                <a:latin typeface="Georgia"/>
                <a:ea typeface="Georgia"/>
                <a:cs typeface="Georgia"/>
                <a:sym typeface="Georgia"/>
              </a:rPr>
              <a:t>Formalize the OS-level causal and semantic invariants a genuine provenance graph must satisfy</a:t>
            </a:r>
          </a:p>
          <a:p>
            <a:pPr algn="l" marL="1241040" indent="-413680" lvl="2">
              <a:lnSpc>
                <a:spcPts val="3608"/>
              </a:lnSpc>
              <a:buFont typeface="Arial"/>
              <a:buChar char="⚬"/>
            </a:pPr>
            <a:r>
              <a:rPr lang="en-US" sz="3340">
                <a:solidFill>
                  <a:srgbClr val="000000"/>
                </a:solidFill>
                <a:latin typeface="Georgia"/>
                <a:ea typeface="Georgia"/>
                <a:cs typeface="Georgia"/>
                <a:sym typeface="Georgia"/>
              </a:rPr>
              <a:t>Build a deterministic rule engine that scores invariant violations, and compare it against a learned GraphSAGE baseline</a:t>
            </a:r>
          </a:p>
          <a:p>
            <a:pPr algn="l" marL="1241040" indent="-413680" lvl="2">
              <a:lnSpc>
                <a:spcPts val="3608"/>
              </a:lnSpc>
              <a:buFont typeface="Arial"/>
              <a:buChar char="⚬"/>
            </a:pPr>
            <a:r>
              <a:rPr lang="en-US" sz="3340">
                <a:solidFill>
                  <a:srgbClr val="000000"/>
                </a:solidFill>
                <a:latin typeface="Georgia"/>
                <a:ea typeface="Georgia"/>
                <a:cs typeface="Georgia"/>
                <a:sym typeface="Georgia"/>
              </a:rPr>
              <a:t>Evaluate both on synthetic poisoning and real DARPA TC E3 traces, under mimicry noise and at scale (up to 1,000,000 edges)</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Problem Definition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2013467"/>
            <a:chOff x="0" y="0"/>
            <a:chExt cx="22418751" cy="2684623"/>
          </a:xfrm>
        </p:grpSpPr>
        <p:sp>
          <p:nvSpPr>
            <p:cNvPr name="Freeform 7" id="7"/>
            <p:cNvSpPr/>
            <p:nvPr/>
          </p:nvSpPr>
          <p:spPr>
            <a:xfrm flipH="false" flipV="false" rot="0">
              <a:off x="0" y="0"/>
              <a:ext cx="22418753" cy="2684618"/>
            </a:xfrm>
            <a:custGeom>
              <a:avLst/>
              <a:gdLst/>
              <a:ahLst/>
              <a:cxnLst/>
              <a:rect r="r" b="b" t="t" l="l"/>
              <a:pathLst>
                <a:path h="2684618" w="22418753">
                  <a:moveTo>
                    <a:pt x="0" y="0"/>
                  </a:moveTo>
                  <a:lnTo>
                    <a:pt x="22418753" y="0"/>
                  </a:lnTo>
                  <a:lnTo>
                    <a:pt x="22418753" y="2684618"/>
                  </a:lnTo>
                  <a:lnTo>
                    <a:pt x="0" y="2684618"/>
                  </a:lnTo>
                  <a:close/>
                </a:path>
              </a:pathLst>
            </a:custGeom>
            <a:blipFill>
              <a:blip r:embed="rId4">
                <a:alphaModFix amt="0"/>
              </a:blip>
              <a:stretch>
                <a:fillRect l="0" t="-145432" r="0" b="-79999"/>
              </a:stretch>
            </a:blipFill>
          </p:spPr>
        </p:sp>
        <p:sp>
          <p:nvSpPr>
            <p:cNvPr name="TextBox 8" id="8"/>
            <p:cNvSpPr txBox="true"/>
            <p:nvPr/>
          </p:nvSpPr>
          <p:spPr>
            <a:xfrm>
              <a:off x="0" y="57150"/>
              <a:ext cx="22418751" cy="2627473"/>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Literature Review Summary</a:t>
              </a:r>
            </a:p>
            <a:p>
              <a:pPr algn="l">
                <a:lnSpc>
                  <a:spcPts val="5184"/>
                </a:lnSpc>
              </a:pP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5</a:t>
              </a:r>
            </a:p>
          </p:txBody>
        </p:sp>
      </p:grpSp>
      <p:graphicFrame>
        <p:nvGraphicFramePr>
          <p:cNvPr name="Table 12" id="12"/>
          <p:cNvGraphicFramePr>
            <a:graphicFrameLocks noGrp="true"/>
          </p:cNvGraphicFramePr>
          <p:nvPr/>
        </p:nvGraphicFramePr>
        <p:xfrm>
          <a:off x="857249" y="1705884"/>
          <a:ext cx="16783050" cy="7315200"/>
        </p:xfrm>
        <a:graphic>
          <a:graphicData uri="http://schemas.openxmlformats.org/drawingml/2006/table">
            <a:tbl>
              <a:tblPr/>
              <a:tblGrid>
                <a:gridCol w="1059873"/>
                <a:gridCol w="2249572"/>
                <a:gridCol w="4554614"/>
                <a:gridCol w="4331546"/>
                <a:gridCol w="2175216"/>
                <a:gridCol w="2412228"/>
              </a:tblGrid>
              <a:tr h="914400">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Year</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Approach</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Key Contribution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Demerit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Dataset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Metric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Unicorn [22]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Graph-kernel embeddings summarize whole-system provenance for real-time APT detection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Graph-level detection is coarse; hard to localize root cause within thousands of events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Detection / similarity score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ThreaTrace [20]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Node-level GNN classification for finer-grained host threat tracing</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Still trusts the input graph; vulnerable to neighborhood-mimicry camouflage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 / Recall / F1</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Mimicry study [5]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Formalized adversarial mimicry attacks against GNN-based provenance detectors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Showed close to 100% detection evasion by diluting node embeddings with benign noise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Detection evasion rate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FLASH [6]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Sequence + graph representation learning for provenance intrusion detection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Representation learning is a black box; no per-edge violation explanation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F1 / Precision-Recall</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Kairos [4]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Practical whole-system provenance intrusion detection &amp; investigation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Assumes the provenance graph handed to it is already untampered</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F1, false-positive rate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ProvX [16]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Counterfactual subgraph explanations for a GNN's malicious prediction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Explains the detector's decision, not whether the input graph was tampered with</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Explanation fidelity</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2025–26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Causal Rule Engine (ours)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15 deterministic causal/semantic OS invariants; explainable per-edge violation score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Cannot catch an attack that preserves every one of the 15 invariants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Synthetic + 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Precision/Recall/F1/ROC-AUC, runtime &amp; memory</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9700"/>
            <a:ext cx="16722623" cy="6741194"/>
          </a:xfrm>
          <a:prstGeom prst="rect">
            <a:avLst/>
          </a:prstGeom>
        </p:spPr>
        <p:txBody>
          <a:bodyPr anchor="t" rtlCol="false" tIns="0" lIns="0" bIns="0" rIns="0">
            <a:spAutoFit/>
          </a:bodyPr>
          <a:lstStyle/>
          <a:p>
            <a:pPr algn="l" marL="601619" indent="-300809" lvl="1">
              <a:lnSpc>
                <a:spcPts val="3590"/>
              </a:lnSpc>
              <a:buFont typeface="Arial"/>
              <a:buChar char="•"/>
            </a:pPr>
            <a:r>
              <a:rPr lang="en-US" sz="3324">
                <a:solidFill>
                  <a:srgbClr val="000000"/>
                </a:solidFill>
                <a:latin typeface="Georgia"/>
                <a:ea typeface="Georgia"/>
                <a:cs typeface="Georgia"/>
                <a:sym typeface="Georgia"/>
              </a:rPr>
              <a:t>Rule/specification systems (Holmes, Sleuth, Poirot, RapSheet) need constant manual upkeep and can't generalize to new attacks, and none of them ask whether the log they're checking is itself intact.</a:t>
            </a:r>
          </a:p>
          <a:p>
            <a:pPr algn="l" marL="601619" indent="-300809" lvl="1">
              <a:lnSpc>
                <a:spcPts val="3590"/>
              </a:lnSpc>
              <a:buFont typeface="Arial"/>
              <a:buChar char="•"/>
            </a:pPr>
            <a:r>
              <a:rPr lang="en-US" sz="3324">
                <a:solidFill>
                  <a:srgbClr val="000000"/>
                </a:solidFill>
                <a:latin typeface="Georgia"/>
                <a:ea typeface="Georgia"/>
                <a:cs typeface="Georgia"/>
                <a:sym typeface="Georgia"/>
              </a:rPr>
              <a:t>Statistical detectors (NoDoze, PrioTracker, ProvDetector) look at shallow topological signals and inherit high false-positive rates from benign-but-rare system behavior.</a:t>
            </a:r>
          </a:p>
          <a:p>
            <a:pPr algn="l" marL="601619" indent="-300809" lvl="1">
              <a:lnSpc>
                <a:spcPts val="3590"/>
              </a:lnSpc>
              <a:buFont typeface="Arial"/>
              <a:buChar char="•"/>
            </a:pPr>
            <a:r>
              <a:rPr lang="en-US" sz="3324">
                <a:solidFill>
                  <a:srgbClr val="000000"/>
                </a:solidFill>
                <a:latin typeface="Georgia"/>
                <a:ea typeface="Georgia"/>
                <a:cs typeface="Georgia"/>
                <a:sym typeface="Georgia"/>
              </a:rPr>
              <a:t>GNN-based detectors (Unicorn, FLASH, ThreaTrace, MAGIC, ShadeWatcher) learn what “normal” looks like from neighborhood embeddings exactly what an adversary exploits: mimicry noise dilutes those embeddings, with NDSS’23 work showing close to 100% detection evasion.</a:t>
            </a:r>
          </a:p>
          <a:p>
            <a:pPr algn="l" marL="601619" indent="-300809" lvl="1">
              <a:lnSpc>
                <a:spcPts val="3590"/>
              </a:lnSpc>
              <a:buFont typeface="Arial"/>
              <a:buChar char="•"/>
            </a:pPr>
            <a:r>
              <a:rPr lang="en-US" sz="3324">
                <a:solidFill>
                  <a:srgbClr val="000000"/>
                </a:solidFill>
                <a:latin typeface="Georgia"/>
                <a:ea typeface="Georgia"/>
                <a:cs typeface="Georgia"/>
                <a:sym typeface="Georgia"/>
              </a:rPr>
              <a:t>Every one of these systems: rule-based, statistical, or learned, assumes the provenance graph handed to it is already trustworthy. None verify that its causal structure (who spawned what, what read/wrote what, in what order) is still internally consistent.</a:t>
            </a:r>
          </a:p>
          <a:p>
            <a:pPr algn="l" marL="601619" indent="-300809" lvl="1">
              <a:lnSpc>
                <a:spcPts val="3590"/>
              </a:lnSpc>
              <a:buFont typeface="Arial"/>
              <a:buChar char="•"/>
            </a:pPr>
            <a:r>
              <a:rPr lang="en-US" sz="3324">
                <a:solidFill>
                  <a:srgbClr val="000000"/>
                </a:solidFill>
                <a:latin typeface="Georgia"/>
                <a:ea typeface="Georgia"/>
                <a:cs typeface="Georgia"/>
                <a:sym typeface="Georgia"/>
              </a:rPr>
              <a:t>Gap: a deterministic, explainable layer that checks provenance graph integrity itself, before any downstream detector consumes it, and that keeps working even when mimicry noise breaks GNN-based approaches.</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Research Gap</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Methodology</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7</a:t>
              </a:r>
            </a:p>
          </p:txBody>
        </p:sp>
      </p:grpSp>
      <p:graphicFrame>
        <p:nvGraphicFramePr>
          <p:cNvPr name="Table 12" id="12"/>
          <p:cNvGraphicFramePr>
            <a:graphicFrameLocks noGrp="true"/>
          </p:cNvGraphicFramePr>
          <p:nvPr/>
        </p:nvGraphicFramePr>
        <p:xfrm>
          <a:off x="857249" y="1705884"/>
          <a:ext cx="16783050" cy="6515100"/>
        </p:xfrm>
        <a:graphic>
          <a:graphicData uri="http://schemas.openxmlformats.org/drawingml/2006/table">
            <a:tbl>
              <a:tblPr/>
              <a:tblGrid>
                <a:gridCol w="3977670"/>
                <a:gridCol w="12805380"/>
              </a:tblGrid>
              <a:tr h="418719">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Category</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Details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Datasets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Synthetic provenance graphs (80 nodes / 179 edges, seeded) + real DARPA TC Engagement 3 traces: Theia '3' and Theia '5m', parsed by the repo's own CDM parser and truncated to the FIRST 50,000 edges. Scenarios 1r and 6r were unavailable and are NOT reported.</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Graph schema</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Directed multigraph nodes: process / file / network socket; edges: read, write, execute, connect, spawn, delete</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Detection methods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Deterministic Causal Rule Engine (15 invariants) vs. GraphSAGE baseline (2-layer, PyTorch Geometric)</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Technology stack</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Python 3, PyTorch + PyTorch Geometric, NetworkX, scikit-learn, pandas / NumPy, fastavro (CDM parsing)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Training config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GraphSAGE: 30 epochs, lr 0.01, hidden 64, weighted BCE, seed 42 (ORIGINAL, leaky). CORRECTED protocol: disjoint 60/20/20 train/val/test edges, message passing restricted to train+val, threshold chosen on validation only.</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Evaluation metrics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 Recall, F1, Accuracy, Specificity, FPR, ROC-AUC, PR-AUC, MCC (13 metrics total)</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Scale / profiling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Runtime, RSS/peak memory, and throughput benchmarked from 10,000 up to 1,000,000 edges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Testing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pytest -q: 98 passed / 5 failed. The 5 failures are tests/test_graph_loader.py and are caused only by the absence of gitignored data/parsed/*.csv (environmental, not a code defect).</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Design/ Architecture</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8</a:t>
              </a:r>
            </a:p>
          </p:txBody>
        </p:sp>
      </p:grpSp>
      <p:sp>
        <p:nvSpPr>
          <p:cNvPr name="Freeform 12" id="12"/>
          <p:cNvSpPr/>
          <p:nvPr/>
        </p:nvSpPr>
        <p:spPr>
          <a:xfrm flipH="false" flipV="false" rot="0">
            <a:off x="447485" y="2717760"/>
            <a:ext cx="17433493" cy="4075079"/>
          </a:xfrm>
          <a:custGeom>
            <a:avLst/>
            <a:gdLst/>
            <a:ahLst/>
            <a:cxnLst/>
            <a:rect r="r" b="b" t="t" l="l"/>
            <a:pathLst>
              <a:path h="4075079" w="17433493">
                <a:moveTo>
                  <a:pt x="0" y="0"/>
                </a:moveTo>
                <a:lnTo>
                  <a:pt x="17433493" y="0"/>
                </a:lnTo>
                <a:lnTo>
                  <a:pt x="17433493" y="4075079"/>
                </a:lnTo>
                <a:lnTo>
                  <a:pt x="0" y="4075079"/>
                </a:lnTo>
                <a:lnTo>
                  <a:pt x="0" y="0"/>
                </a:lnTo>
                <a:close/>
              </a:path>
            </a:pathLst>
          </a:custGeom>
          <a:blipFill>
            <a:blip r:embed="rId5"/>
            <a:stretch>
              <a:fillRect l="0" t="0" r="0" b="0"/>
            </a:stretch>
          </a:blipFill>
        </p:spPr>
      </p:sp>
      <p:sp>
        <p:nvSpPr>
          <p:cNvPr name="TextBox 13" id="13"/>
          <p:cNvSpPr txBox="true"/>
          <p:nvPr/>
        </p:nvSpPr>
        <p:spPr>
          <a:xfrm rot="0">
            <a:off x="948690" y="8320183"/>
            <a:ext cx="16631183" cy="655701"/>
          </a:xfrm>
          <a:prstGeom prst="rect">
            <a:avLst/>
          </a:prstGeom>
        </p:spPr>
        <p:txBody>
          <a:bodyPr anchor="t" rtlCol="false" tIns="0" lIns="0" bIns="0" rIns="0">
            <a:spAutoFit/>
          </a:bodyPr>
          <a:lstStyle/>
          <a:p>
            <a:pPr algn="ctr">
              <a:lnSpc>
                <a:spcPts val="2592"/>
              </a:lnSpc>
            </a:pPr>
            <a:r>
              <a:rPr lang="en-US" b="true" sz="2400" i="true">
                <a:solidFill>
                  <a:srgbClr val="000000"/>
                </a:solidFill>
                <a:latin typeface="Georgia Bold Italics"/>
                <a:ea typeface="Georgia Bold Italics"/>
                <a:cs typeface="Georgia Bold Italics"/>
                <a:sym typeface="Georgia Bold Italics"/>
              </a:rPr>
              <a:t>Novelty: a deterministic, explainable integrity layer sits before any learned/GNN detector : it verifies the causal &amp; semantic consistency of the graph itself, not just anomalous behavior.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9700"/>
            <a:ext cx="16722623" cy="7323439"/>
          </a:xfrm>
          <a:prstGeom prst="rect">
            <a:avLst/>
          </a:prstGeom>
        </p:spPr>
        <p:txBody>
          <a:bodyPr anchor="t" rtlCol="false" tIns="0" lIns="0" bIns="0" rIns="0">
            <a:spAutoFit/>
          </a:bodyPr>
          <a:lstStyle/>
          <a:p>
            <a:pPr algn="l">
              <a:lnSpc>
                <a:spcPts val="3894"/>
              </a:lnSpc>
            </a:pPr>
            <a:r>
              <a:rPr lang="en-US" sz="3605" b="true">
                <a:solidFill>
                  <a:srgbClr val="000000"/>
                </a:solidFill>
                <a:latin typeface="Georgia Bold"/>
                <a:ea typeface="Georgia Bold"/>
                <a:cs typeface="Georgia Bold"/>
                <a:sym typeface="Georgia Bold"/>
              </a:rPr>
              <a:t>Rule Engine : 15 deterministic invariants</a:t>
            </a:r>
          </a:p>
          <a:p>
            <a:pPr algn="l" marL="1148094" indent="-382698" lvl="2">
              <a:lnSpc>
                <a:spcPts val="3337"/>
              </a:lnSpc>
              <a:buFont typeface="Arial"/>
              <a:buChar char="⚬"/>
            </a:pPr>
            <a:r>
              <a:rPr lang="en-US" sz="3090">
                <a:solidFill>
                  <a:srgbClr val="000000"/>
                </a:solidFill>
                <a:latin typeface="Georgia"/>
                <a:ea typeface="Georgia"/>
                <a:cs typeface="Georgia"/>
                <a:sym typeface="Georgia"/>
              </a:rPr>
              <a:t>Structural (6): duplicate edges/events, self-loops, missing nodes, unspawned processes, sequence gaps</a:t>
            </a:r>
          </a:p>
          <a:p>
            <a:pPr algn="l" marL="1148094" indent="-382698" lvl="2">
              <a:lnSpc>
                <a:spcPts val="3337"/>
              </a:lnSpc>
              <a:buFont typeface="Arial"/>
              <a:buChar char="⚬"/>
            </a:pPr>
            <a:r>
              <a:rPr lang="en-US" sz="3090">
                <a:solidFill>
                  <a:srgbClr val="000000"/>
                </a:solidFill>
                <a:latin typeface="Georgia"/>
                <a:ea typeface="Georgia"/>
                <a:cs typeface="Georgia"/>
                <a:sym typeface="Georgia"/>
              </a:rPr>
              <a:t>Temporal (4): timestamp bounds, parent→child spawn ordering, process-activity ordering, sequence monotonicity</a:t>
            </a:r>
          </a:p>
          <a:p>
            <a:pPr algn="l" marL="1148094" indent="-382698" lvl="2">
              <a:lnSpc>
                <a:spcPts val="3337"/>
              </a:lnSpc>
              <a:buFont typeface="Arial"/>
              <a:buChar char="⚬"/>
            </a:pPr>
            <a:r>
              <a:rPr lang="en-US" sz="3090">
                <a:solidFill>
                  <a:srgbClr val="000000"/>
                </a:solidFill>
                <a:latin typeface="Georgia"/>
                <a:ea typeface="Georgia"/>
                <a:cs typeface="Georgia"/>
                <a:sym typeface="Georgia"/>
              </a:rPr>
              <a:t>Semantic (5): spawn/execute/read-write/connect/delete edges must target the right node type</a:t>
            </a:r>
          </a:p>
          <a:p>
            <a:pPr algn="l" marL="1148094" indent="-382698" lvl="2">
              <a:lnSpc>
                <a:spcPts val="3337"/>
              </a:lnSpc>
              <a:buFont typeface="Arial"/>
              <a:buChar char="⚬"/>
            </a:pPr>
            <a:r>
              <a:rPr lang="en-US" sz="3090">
                <a:solidFill>
                  <a:srgbClr val="000000"/>
                </a:solidFill>
                <a:latin typeface="Georgia"/>
                <a:ea typeface="Georgia"/>
                <a:cs typeface="Georgia"/>
                <a:sym typeface="Georgia"/>
              </a:rPr>
              <a:t>An edge is flagged anomalous if it violates ≥ 1 rule; violation score = number of rules broken</a:t>
            </a:r>
          </a:p>
          <a:p>
            <a:pPr algn="l">
              <a:lnSpc>
                <a:spcPts val="3894"/>
              </a:lnSpc>
            </a:pPr>
            <a:r>
              <a:rPr lang="en-US" b="true" sz="3605">
                <a:solidFill>
                  <a:srgbClr val="000000"/>
                </a:solidFill>
                <a:latin typeface="Georgia Bold"/>
                <a:ea typeface="Georgia Bold"/>
                <a:cs typeface="Georgia Bold"/>
                <a:sym typeface="Georgia Bold"/>
              </a:rPr>
              <a:t>GraphSAGE baseline (learned)</a:t>
            </a:r>
          </a:p>
          <a:p>
            <a:pPr algn="l" marL="1148094" indent="-382698" lvl="2">
              <a:lnSpc>
                <a:spcPts val="3337"/>
              </a:lnSpc>
              <a:buFont typeface="Arial"/>
              <a:buChar char="⚬"/>
            </a:pPr>
            <a:r>
              <a:rPr lang="en-US" sz="3090">
                <a:solidFill>
                  <a:srgbClr val="000000"/>
                </a:solidFill>
                <a:latin typeface="Georgia"/>
                <a:ea typeface="Georgia"/>
                <a:cs typeface="Georgia"/>
                <a:sym typeface="Georgia"/>
              </a:rPr>
              <a:t>2-layer inductive GNN over node neighborhoods (PyTorch Geometric), weighted loss for class imbalance, 30 epochs, seed 42</a:t>
            </a:r>
          </a:p>
          <a:p>
            <a:pPr algn="l" marL="1148094" indent="-382698" lvl="2">
              <a:lnSpc>
                <a:spcPts val="3337"/>
              </a:lnSpc>
              <a:buFont typeface="Arial"/>
              <a:buChar char="⚬"/>
            </a:pPr>
            <a:r>
              <a:rPr lang="en-US" sz="3090">
                <a:solidFill>
                  <a:srgbClr val="000000"/>
                </a:solidFill>
                <a:latin typeface="Georgia"/>
                <a:ea typeface="Georgia"/>
                <a:cs typeface="Georgia"/>
                <a:sym typeface="Georgia"/>
              </a:rPr>
              <a:t>Decision threshold swept 0.05 → 1.00 in steps of 0.05; τ* = 0.70 chosen by best validation F1</a:t>
            </a:r>
          </a:p>
          <a:p>
            <a:pPr algn="l">
              <a:lnSpc>
                <a:spcPts val="3894"/>
              </a:lnSpc>
            </a:pPr>
            <a:r>
              <a:rPr lang="en-US" b="true" sz="3605">
                <a:solidFill>
                  <a:srgbClr val="000000"/>
                </a:solidFill>
                <a:latin typeface="Georgia Bold"/>
                <a:ea typeface="Georgia Bold"/>
                <a:cs typeface="Georgia Bold"/>
                <a:sym typeface="Georgia Bold"/>
              </a:rPr>
              <a:t>Train / test protocol</a:t>
            </a:r>
          </a:p>
          <a:p>
            <a:pPr algn="l" marL="1148094" indent="-382698" lvl="2">
              <a:lnSpc>
                <a:spcPts val="3337"/>
              </a:lnSpc>
              <a:buFont typeface="Arial"/>
              <a:buChar char="⚬"/>
            </a:pPr>
            <a:r>
              <a:rPr lang="en-US" sz="3090">
                <a:solidFill>
                  <a:srgbClr val="000000"/>
                </a:solidFill>
                <a:latin typeface="Georgia"/>
                <a:ea typeface="Georgia"/>
                <a:cs typeface="Georgia"/>
                <a:sym typeface="Georgia"/>
              </a:rPr>
              <a:t>Clean graph = benign baseline; held-out poisoned graph (deletion, insertion, reordering, dependency forgery) with ground-truth labels = test set</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Algorithms (if any)</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txBody>
            <a:bodyPr/>
            <a:p/>
          </p:txBody>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txBody>
            <a:bodyPr/>
            <a:p/>
          </p:txBody>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txBody>
            <a:bodyPr/>
            <a:p/>
          </p:txBody>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Result Analysis</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txBody>
            <a:bodyPr/>
            <a:p/>
          </p:txBody>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10</a:t>
              </a:r>
            </a:p>
          </p:txBody>
        </p:sp>
      </p:grpSp>
      <p:graphicFrame>
        <p:nvGraphicFramePr>
          <p:cNvPr name="Table 12" id="12"/>
          <p:cNvGraphicFramePr>
            <a:graphicFrameLocks noGrp="true"/>
          </p:cNvGraphicFramePr>
          <p:nvPr/>
        </p:nvGraphicFramePr>
        <p:xfrm>
          <a:off x="857249" y="1705884"/>
          <a:ext cx="9277350" cy="6553200"/>
        </p:xfrm>
        <a:graphic>
          <a:graphicData uri="http://schemas.openxmlformats.org/drawingml/2006/table">
            <a:tbl>
              <a:tblPr/>
              <a:tblGrid>
                <a:gridCol w="2981164"/>
                <a:gridCol w="3129282"/>
                <a:gridCol w="1055635"/>
                <a:gridCol w="1055635"/>
                <a:gridCol w="1055635"/>
              </a:tblGrid>
              <a:tr h="819150">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Benchmark</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Detector</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Prec.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Recall</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F1</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0.8125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0.6500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0.7222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 (ORIGINAL, leaky, tau*=0.70)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0.7000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0.4667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0.5600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 (CORRECTED, 10 seeds)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0.7146+-0.0948</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0.9329+-0.0629</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0.8048+-0.0627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 (CORRECTED, leakage-free)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0.3416+-0.3093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0.5017+-0.3637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0.3224+-0.1942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DARPA Theia-3 (50k cap, synthetic post-collection poison)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0.9195+-0.0070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0.7667+-0.0720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0.8347+-0.0459</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DARPA Theia-5m (50k cap, synthetic post-collection poison)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0.8504+-0.0599</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Heavy mimicry (CORRECTED, label-free)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0.7146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0.9329</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0.8048</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bl>
          </a:graphicData>
        </a:graphic>
      </p:graphicFrame>
      <p:sp>
        <p:nvSpPr>
          <p:cNvPr name="TextBox 13" id="13"/>
          <p:cNvSpPr txBox="true"/>
          <p:nvPr/>
        </p:nvSpPr>
        <p:spPr>
          <a:xfrm rot="0">
            <a:off x="948690" y="8441607"/>
            <a:ext cx="9117120" cy="478565"/>
          </a:xfrm>
          <a:prstGeom prst="rect">
            <a:avLst/>
          </a:prstGeom>
        </p:spPr>
        <p:txBody>
          <a:bodyPr anchor="t" rtlCol="false" tIns="0" lIns="0" bIns="0" rIns="0">
            <a:spAutoFit/>
          </a:bodyPr>
          <a:lstStyle/>
          <a:p>
            <a:pPr algn="l">
              <a:lnSpc>
                <a:spcPts val="2070"/>
              </a:lnSpc>
            </a:pPr>
            <a:r>
              <a:rPr lang="en-US" sz="1725" i="true">
                <a:solidFill>
                  <a:srgbClr val="000000"/>
                </a:solidFill>
                <a:latin typeface="Aptos Italics"/>
                <a:ea typeface="Aptos Italics"/>
                <a:cs typeface="Aptos Italics"/>
                <a:sym typeface="Aptos Italics"/>
              </a:rPr>
              <a:t>Rule Engine ROC-AUC is a genuine continuous violation-score AUC = 0.9528 +/- 0.0312 (CORRECTED). The previously reported 1.0000 is retracted (hard-coded fallback). 1M edges: Rule Engine inference 34.48 s, peak ~971 MB, end-to-end 187.17 s (~29,007 edges/s).</a:t>
            </a:r>
          </a:p>
        </p:txBody>
      </p:sp>
      <p:grpSp>
        <p:nvGrpSpPr>
          <p:cNvPr name="Group 14" id="14"/>
          <p:cNvGrpSpPr/>
          <p:nvPr/>
        </p:nvGrpSpPr>
        <p:grpSpPr>
          <a:xfrm rot="0">
            <a:off x="10382250" y="2680887"/>
            <a:ext cx="7289063" cy="5206470"/>
            <a:chOff x="0" y="0"/>
            <a:chExt cx="9718751" cy="6941960"/>
          </a:xfrm>
        </p:grpSpPr>
        <p:sp>
          <p:nvSpPr>
            <p:cNvPr name="Freeform 15" id="15"/>
            <p:cNvSpPr/>
            <p:nvPr/>
          </p:nvSpPr>
          <p:spPr>
            <a:xfrm flipH="false" flipV="false" rot="0">
              <a:off x="0" y="0"/>
              <a:ext cx="9718802" cy="6941947"/>
            </a:xfrm>
            <a:custGeom>
              <a:avLst/>
              <a:gdLst/>
              <a:ahLst/>
              <a:cxnLst/>
              <a:rect r="r" b="b" t="t" l="l"/>
              <a:pathLst>
                <a:path h="6941947" w="9718802">
                  <a:moveTo>
                    <a:pt x="0" y="0"/>
                  </a:moveTo>
                  <a:lnTo>
                    <a:pt x="9718802" y="0"/>
                  </a:lnTo>
                  <a:lnTo>
                    <a:pt x="9718802" y="6941947"/>
                  </a:lnTo>
                  <a:lnTo>
                    <a:pt x="0" y="6941947"/>
                  </a:lnTo>
                  <a:lnTo>
                    <a:pt x="0" y="0"/>
                  </a:lnTo>
                  <a:close/>
                </a:path>
              </a:pathLst>
            </a:custGeom>
            <a:blipFill>
              <a:blip r:embed="rId5"/>
              <a:stretch>
                <a:fillRect l="0" t="0" r="0" b="0"/>
              </a:stretch>
            </a:blipFill>
          </p:spPr>
          <p:txBody>
            <a:bodyPr/>
            <a:p/>
          </p:txBody>
        </p:sp>
      </p:grpSp>
      <p:sp>
        <p:nvSpPr>
          <p:cNvPr name="TextBox 16" id="16"/>
          <p:cNvSpPr txBox="true"/>
          <p:nvPr/>
        </p:nvSpPr>
        <p:spPr>
          <a:xfrm rot="0">
            <a:off x="10473690" y="1751600"/>
            <a:ext cx="7106183" cy="590550"/>
          </a:xfrm>
          <a:prstGeom prst="rect">
            <a:avLst/>
          </a:prstGeom>
        </p:spPr>
        <p:txBody>
          <a:bodyPr anchor="t" rtlCol="false" tIns="0" lIns="0" bIns="0" rIns="0">
            <a:spAutoFit/>
          </a:bodyPr>
          <a:lstStyle/>
          <a:p>
            <a:pPr algn="ctr">
              <a:lnSpc>
                <a:spcPts val="2340"/>
              </a:lnSpc>
            </a:pPr>
            <a:r>
              <a:rPr lang="en-US" sz="1950" b="true">
                <a:solidFill>
                  <a:srgbClr val="000000"/>
                </a:solidFill>
                <a:latin typeface="Aptos Bold"/>
                <a:ea typeface="Aptos Bold"/>
                <a:cs typeface="Aptos Bold"/>
                <a:sym typeface="Aptos Bold"/>
              </a:rPr>
              <a:t>Paired RuleEngine - GraphSAGE F1 difference = +0.4824 (95% CI 0.3285-0.6363; Wilcoxon p = 0.001953; Cohen's dz = 2.24) on identical test instances. ROC-AUC difference +0.1239 is NOT significant (p = 0.1055).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txBody>
            <a:bodyPr/>
            <a:p/>
          </p:txBody>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txBody>
            <a:bodyPr/>
            <a:p/>
          </p:txBody>
        </p:sp>
      </p:grpSp>
      <p:sp>
        <p:nvSpPr>
          <p:cNvPr name="TextBox 6" id="6"/>
          <p:cNvSpPr txBox="true"/>
          <p:nvPr/>
        </p:nvSpPr>
        <p:spPr>
          <a:xfrm rot="0">
            <a:off x="948690" y="1780175"/>
            <a:ext cx="16310610" cy="7240215"/>
          </a:xfrm>
          <a:prstGeom prst="rect">
            <a:avLst/>
          </a:prstGeom>
        </p:spPr>
        <p:txBody>
          <a:bodyPr anchor="t" rtlCol="false" tIns="0" lIns="0" bIns="0" rIns="0">
            <a:spAutoFit/>
          </a:bodyPr>
          <a:lstStyle/>
          <a:p>
            <a:pPr algn="l">
              <a:lnSpc>
                <a:spcPts val="3883"/>
              </a:lnSpc>
            </a:pPr>
            <a:r>
              <a:t>Completed</a:t>
            </a:r>
          </a:p>
          <a:p>
            <a:pPr algn="l">
              <a:lnSpc>
                <a:spcPts val="3883"/>
              </a:lnSpc>
            </a:pPr>
            <a:r>
              <a:t>- Provenance pipeline end-to-end: schema, CDM parser, synthetic + DARPA TC E3 loader</a:t>
            </a:r>
          </a:p>
          <a:p>
            <a:pPr algn="l">
              <a:lnSpc>
                <a:spcPts val="3883"/>
              </a:lnSpc>
            </a:pPr>
            <a:r>
              <a:t>- 15-rule causal/semantic rule engine + GraphSAGE (PyTorch Geometric) baseline implemented and evaluated</a:t>
            </a:r>
          </a:p>
          <a:p>
            <a:pPr algn="l">
              <a:lnSpc>
                <a:spcPts val="3883"/>
              </a:lnSpc>
            </a:pPr>
            <a:r>
              <a:t>- Full evaluation suite: synthetic benchmark, DARPA cross-dataset, rule ablation, adversarial-mimicry robustness, scalability to 1,000,000 edges</a:t>
            </a:r>
          </a:p>
          <a:p>
            <a:pPr algn="l">
              <a:lnSpc>
                <a:spcPts val="3883"/>
              </a:lnSpc>
            </a:pPr>
            <a:r>
              <a:t>- Rigorous audit: leakage-free GraphSAGE protocol, 10-seed statistics, poisoning &amp; DARPA ground-truth audit</a:t>
            </a:r>
          </a:p>
          <a:p>
            <a:pPr algn="l">
              <a:lnSpc>
                <a:spcPts val="3883"/>
              </a:lnSpc>
            </a:pPr>
            <a:r>
              <a:t>- pytest: 98 passed / 5 failed (failures only due to absent gitignored DARPA CSVs)</a:t>
            </a:r>
          </a:p>
          <a:p>
            <a:pPr algn="l">
              <a:lnSpc>
                <a:spcPts val="3883"/>
              </a:lnSpc>
            </a:pPr>
            <a:r>
              <a:t>Planned before submission</a:t>
            </a:r>
          </a:p>
          <a:p>
            <a:pPr algn="l">
              <a:lnSpc>
                <a:spcPts val="3883"/>
              </a:lnSpc>
            </a:pPr>
            <a:r>
              <a:t>- Obtain full 4-scenario DARPA TC E3 data (1r and 6r currently unavailable)</a:t>
            </a:r>
          </a:p>
          <a:p>
            <a:pPr algn="l">
              <a:lnSpc>
                <a:spcPts val="3883"/>
              </a:lnSpc>
            </a:pPr>
            <a:r>
              <a:t>- Hybrid detector combining GraphSAGE embeddings with rule-violation scores</a:t>
            </a:r>
          </a:p>
          <a:p>
            <a:pPr algn="l">
              <a:lnSpc>
                <a:spcPts val="3883"/>
              </a:lnSpc>
            </a:pPr>
            <a:r>
              <a:t>- Post-quantum signing + Merkle anchoring for the provenance-integrity module</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txBody>
            <a:bodyPr/>
            <a:p/>
          </p:txBody>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Project Time Line (Plan)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txBody>
            <a:bodyPr/>
            <a:p/>
          </p:txBody>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61125"/>
            <a:ext cx="16631183" cy="7431024"/>
          </a:xfrm>
          <a:prstGeom prst="rect">
            <a:avLst/>
          </a:prstGeom>
        </p:spPr>
        <p:txBody>
          <a:bodyPr anchor="t" rtlCol="false" tIns="0" lIns="0" bIns="0" rIns="0">
            <a:spAutoFit/>
          </a:bodyPr>
          <a:lstStyle/>
          <a:p>
            <a:pPr algn="l" marL="470533" indent="-235266" lvl="1">
              <a:lnSpc>
                <a:spcPts val="2807"/>
              </a:lnSpc>
              <a:buFont typeface="Arial"/>
              <a:buChar char="•"/>
            </a:pPr>
            <a:r>
              <a:rPr lang="en-US" sz="2599">
                <a:solidFill>
                  <a:srgbClr val="000000"/>
                </a:solidFill>
                <a:latin typeface="Georgia"/>
                <a:ea typeface="Georgia"/>
                <a:cs typeface="Georgia"/>
                <a:sym typeface="Georgia"/>
              </a:rPr>
              <a:t>[1] A. Goyal, G. Wang, A. Bates, “R-CAID: Embedding Root Cause Analysis within Provenance-Based Intrusion Detection,”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[4] Z. Cheng et al., “Kairos: Practical Intrusion Detection and Investigation using Whole-System Provenance,”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[5] A. Goyal, X. Han, G. Wang, A. Bates, “Mimicry Attacks against Provenance Graph Host Intrusion Detection Systems,” NDSS, 2023.</a:t>
            </a:r>
          </a:p>
          <a:p>
            <a:pPr algn="l" marL="470533" indent="-235266" lvl="1">
              <a:lnSpc>
                <a:spcPts val="2807"/>
              </a:lnSpc>
              <a:buFont typeface="Arial"/>
              <a:buChar char="•"/>
            </a:pPr>
            <a:r>
              <a:rPr lang="en-US" sz="2599">
                <a:solidFill>
                  <a:srgbClr val="000000"/>
                </a:solidFill>
                <a:latin typeface="Georgia"/>
                <a:ea typeface="Georgia"/>
                <a:cs typeface="Georgia"/>
                <a:sym typeface="Georgia"/>
              </a:rPr>
              <a:t>[6] M. U. Rehman, H. Ahmadi, W. U. Hassan, “FLASH: Intrusion Detection via Provenance Graph Representation Learning,”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[14] B. Jiang et al., “ORTHRUS: High-Quality Attribution in Provenance-Based Intrusion Detection Systems,” USENIX Security,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[16] W. Wu et al., “ProvX: Counterfactual-Driven Attack Explanations for Provenance-Based Detection,” arXiv:2508.06073,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[20] S. Wang et al., “ThreaTrace: Detecting and Tracing Host-Based Threats through Provenance Graph Learning,” IEEE TIFS, 2022.</a:t>
            </a:r>
          </a:p>
          <a:p>
            <a:pPr algn="l" marL="470533" indent="-235266" lvl="1">
              <a:lnSpc>
                <a:spcPts val="2807"/>
              </a:lnSpc>
              <a:buFont typeface="Arial"/>
              <a:buChar char="•"/>
            </a:pPr>
            <a:r>
              <a:rPr lang="en-US" sz="2599">
                <a:solidFill>
                  <a:srgbClr val="000000"/>
                </a:solidFill>
                <a:latin typeface="Georgia"/>
                <a:ea typeface="Georgia"/>
                <a:cs typeface="Georgia"/>
                <a:sym typeface="Georgia"/>
              </a:rPr>
              <a:t>[22] X. Han, T. Pasquier, A. Bates, J. Mickens, M. Seltzer, “Unicorn: Runtime Provenance-Based Detector for APTs,” arXiv:2001.01525, 2020.</a:t>
            </a:r>
          </a:p>
          <a:p>
            <a:pPr algn="l" marL="470533" indent="-235266" lvl="1">
              <a:lnSpc>
                <a:spcPts val="2807"/>
              </a:lnSpc>
              <a:buFont typeface="Arial"/>
              <a:buChar char="•"/>
            </a:pPr>
            <a:r>
              <a:rPr lang="en-US" sz="2599">
                <a:solidFill>
                  <a:srgbClr val="000000"/>
                </a:solidFill>
                <a:latin typeface="Georgia"/>
                <a:ea typeface="Georgia"/>
                <a:cs typeface="Georgia"/>
                <a:sym typeface="Georgia"/>
              </a:rPr>
              <a:t>[30] W. Hamilton, Z. Ying, J. Leskovec, “Inductive Representation Learning on Large Graphs (GraphSAGE),” NeurIPS, 2017.</a:t>
            </a:r>
          </a:p>
          <a:p>
            <a:pPr algn="l" marL="470533" indent="-235266" lvl="1">
              <a:lnSpc>
                <a:spcPts val="2807"/>
              </a:lnSpc>
              <a:buFont typeface="Arial"/>
              <a:buChar char="•"/>
            </a:pPr>
            <a:r>
              <a:rPr lang="en-US" sz="2599">
                <a:solidFill>
                  <a:srgbClr val="000000"/>
                </a:solidFill>
                <a:latin typeface="Georgia"/>
                <a:ea typeface="Georgia"/>
                <a:cs typeface="Georgia"/>
                <a:sym typeface="Georgia"/>
              </a:rPr>
              <a:t>N. Manoj, D. Rajeev, “Causal Consistency as a Defense: Detecting Provenance Graph Poisoning,” ICMLDE, Procedia Computer Science,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[32] N. Manoj, “Causal Provenance Graph Tamper Detection Framework,” GitHub repository, 2026.</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Reference</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DAHWaxPKl7o</dc:identifier>
  <dcterms:modified xsi:type="dcterms:W3CDTF">2011-08-01T06:04:30Z</dcterms:modified>
  <cp:revision>1</cp:revision>
  <dc:title>Causal_Provenance_Mid_Review.pptx</dc:title>
</cp:coreProperties>
</file>